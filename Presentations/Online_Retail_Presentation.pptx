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F2B70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705"/>
              </a:solidFill>
              <a:ln w="9525" cap="flat">
                <a:solidFill>
                  <a:srgbClr val="F2B705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Dec-10</c:v>
                </c:pt>
                <c:pt idx="1">
                  <c:v>Jan-11</c:v>
                </c:pt>
                <c:pt idx="2">
                  <c:v>Feb-11</c:v>
                </c:pt>
                <c:pt idx="3">
                  <c:v>Mar-11</c:v>
                </c:pt>
                <c:pt idx="4">
                  <c:v>Apr-11</c:v>
                </c:pt>
                <c:pt idx="5">
                  <c:v>May-11</c:v>
                </c:pt>
                <c:pt idx="6">
                  <c:v>Jun-11</c:v>
                </c:pt>
                <c:pt idx="7">
                  <c:v>Jul-11</c:v>
                </c:pt>
                <c:pt idx="8">
                  <c:v>Aug-11</c:v>
                </c:pt>
                <c:pt idx="9">
                  <c:v>Sep-11</c:v>
                </c:pt>
                <c:pt idx="10">
                  <c:v>Oct-11</c:v>
                </c:pt>
                <c:pt idx="11">
                  <c:v>Nov-11</c:v>
                </c:pt>
                <c:pt idx="12">
                  <c:v>Dec-11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821453</c:v>
                </c:pt>
                <c:pt idx="1">
                  <c:v>689812</c:v>
                </c:pt>
                <c:pt idx="2">
                  <c:v>522546</c:v>
                </c:pt>
                <c:pt idx="3">
                  <c:v>716215</c:v>
                </c:pt>
                <c:pt idx="4">
                  <c:v>536968</c:v>
                </c:pt>
                <c:pt idx="5">
                  <c:v>769297</c:v>
                </c:pt>
                <c:pt idx="6">
                  <c:v>760547</c:v>
                </c:pt>
                <c:pt idx="7">
                  <c:v>718076</c:v>
                </c:pt>
                <c:pt idx="8">
                  <c:v>757841</c:v>
                </c:pt>
                <c:pt idx="9">
                  <c:v>1056435</c:v>
                </c:pt>
                <c:pt idx="10">
                  <c:v>1151264</c:v>
                </c:pt>
                <c:pt idx="11">
                  <c:v>1503867</c:v>
                </c:pt>
                <c:pt idx="12">
                  <c:v>637790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55D-4F91-86B5-3D8F905027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\£#,##0,\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03-42A5-8AF4-01FBD5C6A120}"/>
              </c:ext>
            </c:extLst>
          </c:dPt>
          <c:dPt>
            <c:idx val="1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03-42A5-8AF4-01FBD5C6A120}"/>
              </c:ext>
            </c:extLst>
          </c:dPt>
          <c:cat>
            <c:strRef>
              <c:f>Sheet1!$A$2:$A$3</c:f>
              <c:strCache>
                <c:ptCount val="2"/>
                <c:pt idx="0">
                  <c:v>United Kingdom</c:v>
                </c:pt>
                <c:pt idx="1">
                  <c:v>Rest of World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9001744</c:v>
                </c:pt>
                <c:pt idx="1">
                  <c:v>1640367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03-42A5-8AF4-01FBD5C6A1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\£#,##0,\K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F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Netherlands</c:v>
                </c:pt>
                <c:pt idx="1">
                  <c:v>EIRE</c:v>
                </c:pt>
                <c:pt idx="2">
                  <c:v>Germany</c:v>
                </c:pt>
                <c:pt idx="3">
                  <c:v>France</c:v>
                </c:pt>
                <c:pt idx="4">
                  <c:v>Australia</c:v>
                </c:pt>
                <c:pt idx="5">
                  <c:v>Spain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285446</c:v>
                </c:pt>
                <c:pt idx="1">
                  <c:v>283141</c:v>
                </c:pt>
                <c:pt idx="2">
                  <c:v>228678</c:v>
                </c:pt>
                <c:pt idx="3">
                  <c:v>209625</c:v>
                </c:pt>
                <c:pt idx="4">
                  <c:v>138454</c:v>
                </c:pt>
                <c:pt idx="5">
                  <c:v>61559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F5-4A82-8562-D2BC522B30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94F64"/>
            </a:solidFill>
            <a:effectLst/>
          </c:spPr>
          <c:invertIfNegative val="0"/>
          <c:dLbls>
            <c:numFmt formatCode="\£#,##0,\K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F2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Dotcom Postage</c:v>
                </c:pt>
                <c:pt idx="1">
                  <c:v>Regency Cakestand 3 Tier</c:v>
                </c:pt>
                <c:pt idx="2">
                  <c:v>Paper Craft, Little Birdie</c:v>
                </c:pt>
                <c:pt idx="3">
                  <c:v>White Hanging Heart T-Light</c:v>
                </c:pt>
                <c:pt idx="4">
                  <c:v>Party Bunting</c:v>
                </c:pt>
                <c:pt idx="5">
                  <c:v>Jumbo Bag Red Retrospot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206249</c:v>
                </c:pt>
                <c:pt idx="1">
                  <c:v>174157</c:v>
                </c:pt>
                <c:pt idx="2">
                  <c:v>168470</c:v>
                </c:pt>
                <c:pt idx="3">
                  <c:v>106237</c:v>
                </c:pt>
                <c:pt idx="4">
                  <c:v>99445</c:v>
                </c:pt>
                <c:pt idx="5">
                  <c:v>94160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EE-4051-A13A-35D2D6FB19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1775782</c:v>
                </c:pt>
                <c:pt idx="1">
                  <c:v>2175701</c:v>
                </c:pt>
                <c:pt idx="2">
                  <c:v>1847074</c:v>
                </c:pt>
                <c:pt idx="3">
                  <c:v>2199293</c:v>
                </c:pt>
                <c:pt idx="4">
                  <c:v>1837470</c:v>
                </c:pt>
                <c:pt idx="5">
                  <c:v>0</c:v>
                </c:pt>
                <c:pt idx="6">
                  <c:v>806791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A2-4DD4-91E5-EBE701C36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\£#,##0,\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F2B70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7:00</c:v>
                </c:pt>
                <c:pt idx="1">
                  <c:v>8:00</c:v>
                </c:pt>
                <c:pt idx="2">
                  <c:v>9:00</c:v>
                </c:pt>
                <c:pt idx="3">
                  <c:v>10:00</c:v>
                </c:pt>
                <c:pt idx="4">
                  <c:v>11:00</c:v>
                </c:pt>
                <c:pt idx="5">
                  <c:v>12:00</c:v>
                </c:pt>
                <c:pt idx="6">
                  <c:v>13:00</c:v>
                </c:pt>
                <c:pt idx="7">
                  <c:v>14:00</c:v>
                </c:pt>
                <c:pt idx="8">
                  <c:v>15:00</c:v>
                </c:pt>
                <c:pt idx="9">
                  <c:v>16:00</c:v>
                </c:pt>
                <c:pt idx="10">
                  <c:v>17:00</c:v>
                </c:pt>
                <c:pt idx="11">
                  <c:v>18:00</c:v>
                </c:pt>
                <c:pt idx="12">
                  <c:v>19:00</c:v>
                </c:pt>
                <c:pt idx="13">
                  <c:v>20:00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31059</c:v>
                </c:pt>
                <c:pt idx="1">
                  <c:v>283751</c:v>
                </c:pt>
                <c:pt idx="2">
                  <c:v>990055</c:v>
                </c:pt>
                <c:pt idx="3">
                  <c:v>1444815</c:v>
                </c:pt>
                <c:pt idx="4">
                  <c:v>1236573</c:v>
                </c:pt>
                <c:pt idx="5">
                  <c:v>1439325</c:v>
                </c:pt>
                <c:pt idx="6">
                  <c:v>1261195</c:v>
                </c:pt>
                <c:pt idx="7">
                  <c:v>1177908</c:v>
                </c:pt>
                <c:pt idx="8">
                  <c:v>1350333</c:v>
                </c:pt>
                <c:pt idx="9">
                  <c:v>752488</c:v>
                </c:pt>
                <c:pt idx="10">
                  <c:v>460964</c:v>
                </c:pt>
                <c:pt idx="11">
                  <c:v>144604</c:v>
                </c:pt>
                <c:pt idx="12">
                  <c:v>50205</c:v>
                </c:pt>
                <c:pt idx="13">
                  <c:v>18832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34C-4543-96BB-535551A107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7F0"/>
              </a:solidFill>
              <a:prstDash val="solid"/>
              <a:round/>
            </a:ln>
          </c:spPr>
        </c:majorGridlines>
        <c:numFmt formatCode="\£#,##0,\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13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Year of Online Retail Performance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geography &amp; customer behavior across 524,878 transactions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2010 – December 2011   |   UK-based online retailer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Year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headline metrics across the full transaction history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01368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11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£10.64M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2715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801368"/>
            <a:ext cx="146304" cy="14630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2011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19,960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99432" y="2715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4192" y="1801368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8394192" y="2011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4,338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94192" y="2715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858768"/>
            <a:ext cx="146304" cy="146304"/>
          </a:xfrm>
          <a:prstGeom prst="ellipse">
            <a:avLst/>
          </a:prstGeom>
          <a:solidFill>
            <a:srgbClr val="9B6BF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069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5.57M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4672" y="47731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5661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9432" y="3858768"/>
            <a:ext cx="146304" cy="146304"/>
          </a:xfrm>
          <a:prstGeom prst="ellipse">
            <a:avLst/>
          </a:prstGeom>
          <a:solidFill>
            <a:srgbClr val="E94F64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4069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£533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99432" y="47731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94192" y="3858768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394192" y="40690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394192" y="47731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  ·  Dec 2010 – Dec 2011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Climbed Sharply into Peak Season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Dec 2010 – Dec 2011  ·  November 2011 was the strongest month at £1.50M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110642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  ·  Dec 2010 – Dec 2011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UK Dominates, but 37 Other Markets Contribute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generates 85% of revenue (£9.00M of £10.64M)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4572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417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Non-UK Markets by Revenue</a:t>
            </a:r>
            <a:endParaRPr lang="en-US" sz="14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5486400" y="182880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  ·  Dec 2010 – Dec 2011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Handful of SKUs Drive Outsized Revenue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products by revenue  ·  postage and giftware lead the list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110642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  ·  Dec 2010 – Dec 2011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Peak on Weekday Mornings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day of week and hour of day  ·  no orders recorded on Saturdays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of Week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Hour of Day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309360" y="182880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  ·  Dec 2010 – Dec 2011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3D3411-D991-8FB8-4699-B9C139C08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84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657600" cy="3657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Act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84248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1109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peak-season inventory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29514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Sep–Nov 2011 revenue nearly doubled versus the summer months — plan stock and staffing ahead of that ramp.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310128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23697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beyond the UK deliberately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62102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Netherlands, Ireland and Germany already generate over £250K each with no dedicated push — a natural next-market shortlist.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56285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one-time buyers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94690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1,493 of 4,338 customers ordered only once; a follow-up offer targeted at first-time buyers is the highest-leverage retention move.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Sales Analysis  ·  Dec 2010 – Dec 2011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315</Words>
  <Application>Microsoft Office PowerPoint</Application>
  <PresentationFormat>Widescreen</PresentationFormat>
  <Paragraphs>59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Shadow playz</cp:lastModifiedBy>
  <cp:revision>2</cp:revision>
  <dcterms:created xsi:type="dcterms:W3CDTF">2026-09-10T17:10:57Z</dcterms:created>
  <dcterms:modified xsi:type="dcterms:W3CDTF">2026-09-10T17:23:55Z</dcterms:modified>
</cp:coreProperties>
</file>